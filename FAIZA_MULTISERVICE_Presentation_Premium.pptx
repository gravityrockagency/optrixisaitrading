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0" y="0"/>
            <a:ext cx="27432" cy="6858000"/>
          </a:xfrm>
          <a:prstGeom prst="rect">
            <a:avLst/>
          </a:prstGeom>
          <a:solidFill>
            <a:srgbClr val="2A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457200" y="0"/>
            <a:ext cx="27432" cy="6858000"/>
          </a:xfrm>
          <a:prstGeom prst="rect">
            <a:avLst/>
          </a:prstGeom>
          <a:solidFill>
            <a:srgbClr val="2A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" cy="6858000"/>
          </a:xfrm>
          <a:prstGeom prst="rect">
            <a:avLst/>
          </a:prstGeom>
          <a:solidFill>
            <a:srgbClr val="2A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0"/>
            <a:ext cx="27432" cy="6858000"/>
          </a:xfrm>
          <a:prstGeom prst="rect">
            <a:avLst/>
          </a:prstGeom>
          <a:solidFill>
            <a:srgbClr val="2A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0"/>
            <a:ext cx="27432" cy="6858000"/>
          </a:xfrm>
          <a:prstGeom prst="rect">
            <a:avLst/>
          </a:prstGeom>
          <a:solidFill>
            <a:srgbClr val="2A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0"/>
            <a:ext cx="27432" cy="6858000"/>
          </a:xfrm>
          <a:prstGeom prst="rect">
            <a:avLst/>
          </a:prstGeom>
          <a:solidFill>
            <a:srgbClr val="2A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0" y="0"/>
            <a:ext cx="27432" cy="6858000"/>
          </a:xfrm>
          <a:prstGeom prst="rect">
            <a:avLst/>
          </a:prstGeom>
          <a:solidFill>
            <a:srgbClr val="2A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0" y="0"/>
            <a:ext cx="27432" cy="6858000"/>
          </a:xfrm>
          <a:prstGeom prst="rect">
            <a:avLst/>
          </a:prstGeom>
          <a:solidFill>
            <a:srgbClr val="2A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0" y="0"/>
            <a:ext cx="27432" cy="6858000"/>
          </a:xfrm>
          <a:prstGeom prst="rect">
            <a:avLst/>
          </a:prstGeom>
          <a:solidFill>
            <a:srgbClr val="2A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0"/>
            <a:ext cx="27432" cy="6858000"/>
          </a:xfrm>
          <a:prstGeom prst="rect">
            <a:avLst/>
          </a:prstGeom>
          <a:solidFill>
            <a:srgbClr val="2A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0"/>
            <a:ext cx="27432" cy="6858000"/>
          </a:xfrm>
          <a:prstGeom prst="rect">
            <a:avLst/>
          </a:prstGeom>
          <a:solidFill>
            <a:srgbClr val="2A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0"/>
            <a:ext cx="27432" cy="6858000"/>
          </a:xfrm>
          <a:prstGeom prst="rect">
            <a:avLst/>
          </a:prstGeom>
          <a:solidFill>
            <a:srgbClr val="2A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0"/>
            <a:ext cx="27432" cy="6858000"/>
          </a:xfrm>
          <a:prstGeom prst="rect">
            <a:avLst/>
          </a:prstGeom>
          <a:solidFill>
            <a:srgbClr val="2A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0"/>
            <a:ext cx="27432" cy="6858000"/>
          </a:xfrm>
          <a:prstGeom prst="rect">
            <a:avLst/>
          </a:prstGeom>
          <a:solidFill>
            <a:srgbClr val="2A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0"/>
            <a:ext cx="27432" cy="6858000"/>
          </a:xfrm>
          <a:prstGeom prst="rect">
            <a:avLst/>
          </a:prstGeom>
          <a:solidFill>
            <a:srgbClr val="2A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0"/>
            <a:ext cx="27432" cy="6858000"/>
          </a:xfrm>
          <a:prstGeom prst="rect">
            <a:avLst/>
          </a:prstGeom>
          <a:solidFill>
            <a:srgbClr val="2A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0"/>
            <a:ext cx="27432" cy="6858000"/>
          </a:xfrm>
          <a:prstGeom prst="rect">
            <a:avLst/>
          </a:prstGeom>
          <a:solidFill>
            <a:srgbClr val="2A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0" y="0"/>
            <a:ext cx="27432" cy="6858000"/>
          </a:xfrm>
          <a:prstGeom prst="rect">
            <a:avLst/>
          </a:prstGeom>
          <a:solidFill>
            <a:srgbClr val="2A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0" y="0"/>
            <a:ext cx="27432" cy="6858000"/>
          </a:xfrm>
          <a:prstGeom prst="rect">
            <a:avLst/>
          </a:prstGeom>
          <a:solidFill>
            <a:srgbClr val="2A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0" y="0"/>
            <a:ext cx="27432" cy="6858000"/>
          </a:xfrm>
          <a:prstGeom prst="rect">
            <a:avLst/>
          </a:prstGeom>
          <a:solidFill>
            <a:srgbClr val="2A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0"/>
            <a:ext cx="27432" cy="6858000"/>
          </a:xfrm>
          <a:prstGeom prst="rect">
            <a:avLst/>
          </a:prstGeom>
          <a:solidFill>
            <a:srgbClr val="2A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0" y="0"/>
            <a:ext cx="27432" cy="6858000"/>
          </a:xfrm>
          <a:prstGeom prst="rect">
            <a:avLst/>
          </a:prstGeom>
          <a:solidFill>
            <a:srgbClr val="2A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0" y="0"/>
            <a:ext cx="27432" cy="6858000"/>
          </a:xfrm>
          <a:prstGeom prst="rect">
            <a:avLst/>
          </a:prstGeom>
          <a:solidFill>
            <a:srgbClr val="2A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0" y="0"/>
            <a:ext cx="27432" cy="6858000"/>
          </a:xfrm>
          <a:prstGeom prst="rect">
            <a:avLst/>
          </a:prstGeom>
          <a:solidFill>
            <a:srgbClr val="2A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58400" y="0"/>
            <a:ext cx="27432" cy="6858000"/>
          </a:xfrm>
          <a:prstGeom prst="rect">
            <a:avLst/>
          </a:prstGeom>
          <a:solidFill>
            <a:srgbClr val="2A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515600" y="0"/>
            <a:ext cx="27432" cy="6858000"/>
          </a:xfrm>
          <a:prstGeom prst="rect">
            <a:avLst/>
          </a:prstGeom>
          <a:solidFill>
            <a:srgbClr val="2A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972800" y="0"/>
            <a:ext cx="27432" cy="6858000"/>
          </a:xfrm>
          <a:prstGeom prst="rect">
            <a:avLst/>
          </a:prstGeom>
          <a:solidFill>
            <a:srgbClr val="2A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0" y="0"/>
            <a:ext cx="27432" cy="6858000"/>
          </a:xfrm>
          <a:prstGeom prst="rect">
            <a:avLst/>
          </a:prstGeom>
          <a:solidFill>
            <a:srgbClr val="2A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502920"/>
            <a:ext cx="12191695" cy="2286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327648"/>
            <a:ext cx="12191695" cy="2286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94960" y="201168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 i="0" spc="300">
                <a:solidFill>
                  <a:srgbClr val="C9A96E"/>
                </a:solidFill>
                <a:latin typeface="Garamond"/>
              </a:rPr>
              <a:t>KF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12080" y="2788920"/>
            <a:ext cx="1737360" cy="16459"/>
          </a:xfrm>
          <a:prstGeom prst="rect">
            <a:avLst/>
          </a:prstGeom>
          <a:solidFill>
            <a:srgbClr val="8E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0" y="2926080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spc="500">
                <a:solidFill>
                  <a:srgbClr val="F5F0E8"/>
                </a:solidFill>
                <a:latin typeface="Montserrat"/>
              </a:rPr>
              <a:t>FAIZA MULTISERVICE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333756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 spc="400">
                <a:solidFill>
                  <a:srgbClr val="8E8E8E"/>
                </a:solidFill>
                <a:latin typeface="Montserrat"/>
              </a:rPr>
              <a:t>SERVICE CLIENT DE QUALITÉ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0" y="3749040"/>
            <a:ext cx="3017520" cy="13716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0" y="3886199"/>
            <a:ext cx="5760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 spc="100">
                <a:solidFill>
                  <a:srgbClr val="F5F0E8"/>
                </a:solidFill>
                <a:latin typeface="Garamond"/>
              </a:rPr>
              <a:t>CONCIERGERIE &amp;
SERVICES PRIVÉS EXCLUSIFS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0" y="498348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9A96E"/>
                </a:solidFill>
                <a:latin typeface="Garamond"/>
              </a:rPr>
              <a:t>Votre partenaire privilégié en services haut de gamme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E8E8E"/>
                </a:solidFill>
                <a:latin typeface="Montserrat"/>
              </a:rPr>
              <a:t>01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675120" cy="68580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75120" y="0"/>
            <a:ext cx="5486400" cy="6858000"/>
          </a:xfrm>
          <a:prstGeom prst="rect">
            <a:avLst/>
          </a:prstGeom>
          <a:solidFill>
            <a:srgbClr val="22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56832" y="0"/>
            <a:ext cx="20116" cy="68580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2286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32397"/>
            <a:ext cx="12191695" cy="2286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20116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spc="200">
                <a:solidFill>
                  <a:srgbClr val="C9A96E"/>
                </a:solidFill>
                <a:latin typeface="Garamond"/>
              </a:rPr>
              <a:t>KF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05840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1">
                <a:solidFill>
                  <a:srgbClr val="F5F0E8"/>
                </a:solidFill>
                <a:latin typeface="Garamond"/>
              </a:rPr>
              <a:t>L'art du service,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C9A96E"/>
                </a:solidFill>
                <a:latin typeface="Garamond"/>
              </a:rPr>
              <a:t>signé Faiza Multiservice.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48840"/>
            <a:ext cx="2560320" cy="18288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31720"/>
            <a:ext cx="5577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100" b="0" i="0">
                <a:solidFill>
                  <a:srgbClr val="F5F0E8"/>
                </a:solidFill>
                <a:latin typeface="Montserrat"/>
              </a:rPr>
              <a:t>Chez Faiza Multiservice, chaque rencontre est une promesse tenue.
Chaque service, une attention pensée. Chaque client, une relation de confiance.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37560"/>
            <a:ext cx="5577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200" b="0" i="1">
                <a:solidFill>
                  <a:srgbClr val="AAA8A4"/>
                </a:solidFill>
                <a:latin typeface="Garamond"/>
              </a:rPr>
              <a:t>De la garde d'enfants à la conciergerie privée, nous orchestrons
votre quotidien avec l'élégance du détail et la chaleur du service humain.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434840"/>
            <a:ext cx="1645920" cy="16459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9A96E"/>
                </a:solidFill>
                <a:latin typeface="Garamond"/>
              </a:rPr>
              <a:t>— Faiza Kenouf, Directrice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56032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200"/>
              </a:lnSpc>
            </a:pPr>
            <a:r>
              <a:rPr sz="1000" b="0" i="0">
                <a:solidFill>
                  <a:srgbClr val="8E8E8E"/>
                </a:solidFill>
                <a:latin typeface="Montserrat"/>
              </a:rPr>
              <a:t>ÉQUIPE
FAIZA MULTISERVICE
Personnel sélectionné
Discrètion · Élégance · Excellence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1005840"/>
            <a:ext cx="4480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444855"/>
                </a:solidFill>
                <a:latin typeface="Montserrat"/>
              </a:rPr>
              <a:t>[ Insérer photo équipe palace 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E8E8E"/>
                </a:solidFill>
                <a:latin typeface="Montserrat"/>
              </a:rPr>
              <a:t>02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2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397"/>
            <a:ext cx="12191695" cy="2286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spc="200">
                <a:solidFill>
                  <a:srgbClr val="C9A96E"/>
                </a:solidFill>
                <a:latin typeface="Garamond"/>
              </a:rPr>
              <a:t>KF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 spc="50">
                <a:solidFill>
                  <a:srgbClr val="F5F0E8"/>
                </a:solidFill>
                <a:latin typeface="Garamond"/>
              </a:rPr>
              <a:t>L'excellence comme signature.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55448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9A96E"/>
                </a:solidFill>
                <a:latin typeface="Garamond"/>
              </a:rPr>
              <a:t>Notre mission : élever la qualité de vie de chaque client.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0" y="2011680"/>
            <a:ext cx="2286000" cy="16459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2331720" cy="347472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56032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9A96E"/>
                </a:solidFill>
                <a:latin typeface="Garamond"/>
              </a:rPr>
              <a:t>◆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25880" y="3108960"/>
            <a:ext cx="1234440" cy="16459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24612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spc="300">
                <a:solidFill>
                  <a:srgbClr val="F5F0E8"/>
                </a:solidFill>
                <a:latin typeface="Montserrat"/>
              </a:rPr>
              <a:t>CONFIANCE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749040"/>
            <a:ext cx="1965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</a:pPr>
            <a:r>
              <a:rPr sz="1100" b="0" i="1">
                <a:solidFill>
                  <a:srgbClr val="AAA8A4"/>
                </a:solidFill>
                <a:latin typeface="Garamond"/>
              </a:rPr>
              <a:t>Une relation solide,
transparente et respectueuse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2331720"/>
            <a:ext cx="2331720" cy="347472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256032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9A96E"/>
                </a:solidFill>
                <a:latin typeface="Garamond"/>
              </a:rPr>
              <a:t>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86200" y="3108960"/>
            <a:ext cx="1234440" cy="16459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324612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spc="300">
                <a:solidFill>
                  <a:srgbClr val="F5F0E8"/>
                </a:solidFill>
                <a:latin typeface="Montserrat"/>
              </a:rPr>
              <a:t>ÉLÉGANCE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3749040"/>
            <a:ext cx="1965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</a:pPr>
            <a:r>
              <a:rPr sz="1100" b="0" i="1">
                <a:solidFill>
                  <a:srgbClr val="AAA8A4"/>
                </a:solidFill>
                <a:latin typeface="Garamond"/>
              </a:rPr>
              <a:t>Chaque détail, pensé
avec soin et discrétion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97880" y="2331720"/>
            <a:ext cx="2331720" cy="347472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9320" y="256032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9A96E"/>
                </a:solidFill>
                <a:latin typeface="Garamond"/>
              </a:rPr>
              <a:t>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46520" y="3108960"/>
            <a:ext cx="1234440" cy="16459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9320" y="324612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spc="300">
                <a:solidFill>
                  <a:srgbClr val="F5F0E8"/>
                </a:solidFill>
                <a:latin typeface="Montserrat"/>
              </a:rPr>
              <a:t>ENGAGEMENT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3749040"/>
            <a:ext cx="1965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</a:pPr>
            <a:r>
              <a:rPr sz="1100" b="0" i="1">
                <a:solidFill>
                  <a:srgbClr val="AAA8A4"/>
                </a:solidFill>
                <a:latin typeface="Garamond"/>
              </a:rPr>
              <a:t>Présents, réactifs,
disponibles 7j/7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58200" y="2331720"/>
            <a:ext cx="2331720" cy="347472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49640" y="256032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9A96E"/>
                </a:solidFill>
                <a:latin typeface="Garamond"/>
              </a:rPr>
              <a:t>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06840" y="3108960"/>
            <a:ext cx="1234440" cy="16459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49640" y="324612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spc="300">
                <a:solidFill>
                  <a:srgbClr val="F5F0E8"/>
                </a:solidFill>
                <a:latin typeface="Montserrat"/>
              </a:rPr>
              <a:t>EXPÉRIENCE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3749040"/>
            <a:ext cx="1965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</a:pPr>
            <a:r>
              <a:rPr sz="1100" b="0" i="1">
                <a:solidFill>
                  <a:srgbClr val="AAA8A4"/>
                </a:solidFill>
                <a:latin typeface="Garamond"/>
              </a:rPr>
              <a:t>Un service adapté,
personnalisé, mémorable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E8E8E"/>
                </a:solidFill>
                <a:latin typeface="Montserrat"/>
              </a:rPr>
              <a:t>03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397"/>
            <a:ext cx="12191695" cy="2286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spc="200">
                <a:solidFill>
                  <a:srgbClr val="C9A96E"/>
                </a:solidFill>
                <a:latin typeface="Garamond"/>
              </a:rPr>
              <a:t>KF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5F0E8"/>
                </a:solidFill>
                <a:latin typeface="Garamond"/>
              </a:rPr>
              <a:t>Des services pensés pour chaque moment de vie.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89888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9A96E"/>
                </a:solidFill>
                <a:latin typeface="Garamond"/>
              </a:rPr>
              <a:t>Une gamme complète pour les familles, les hôtels et les clients privés les plus exigeants.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901952"/>
            <a:ext cx="2286000" cy="18288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9A96E"/>
                </a:solidFill>
                <a:latin typeface="Garamon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1488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0E8"/>
                </a:solidFill>
                <a:latin typeface="Montserrat"/>
              </a:rPr>
              <a:t>Baby-sitting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606040"/>
            <a:ext cx="5029200" cy="10972"/>
          </a:xfrm>
          <a:prstGeom prst="rect">
            <a:avLst/>
          </a:prstGeom>
          <a:solidFill>
            <a:srgbClr val="333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76148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9A96E"/>
                </a:solidFill>
                <a:latin typeface="Garamon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0720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0E8"/>
                </a:solidFill>
                <a:latin typeface="Montserrat"/>
              </a:rPr>
              <a:t>Kids Club  —  4 à 9 ans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264408"/>
            <a:ext cx="5029200" cy="10972"/>
          </a:xfrm>
          <a:prstGeom prst="rect">
            <a:avLst/>
          </a:prstGeom>
          <a:solidFill>
            <a:srgbClr val="333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419856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9A96E"/>
                </a:solidFill>
                <a:latin typeface="Garamond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465576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0E8"/>
                </a:solidFill>
                <a:latin typeface="Montserrat"/>
              </a:rPr>
              <a:t>Teen Club  —  10 à 16 ans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922776"/>
            <a:ext cx="5029200" cy="10972"/>
          </a:xfrm>
          <a:prstGeom prst="rect">
            <a:avLst/>
          </a:prstGeom>
          <a:solidFill>
            <a:srgbClr val="333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078224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9A96E"/>
                </a:solidFill>
                <a:latin typeface="Garamond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23944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0E8"/>
                </a:solidFill>
                <a:latin typeface="Montserrat"/>
              </a:rPr>
              <a:t>Assistance à la personne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581144"/>
            <a:ext cx="5029200" cy="10972"/>
          </a:xfrm>
          <a:prstGeom prst="rect">
            <a:avLst/>
          </a:prstGeom>
          <a:solidFill>
            <a:srgbClr val="333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21031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9A96E"/>
                </a:solidFill>
                <a:latin typeface="Garamond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21488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0E8"/>
                </a:solidFill>
                <a:latin typeface="Montserrat"/>
              </a:rPr>
              <a:t>Événementiel privé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2606040"/>
            <a:ext cx="5029200" cy="10972"/>
          </a:xfrm>
          <a:prstGeom prst="rect">
            <a:avLst/>
          </a:prstGeom>
          <a:solidFill>
            <a:srgbClr val="333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276148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9A96E"/>
                </a:solidFill>
                <a:latin typeface="Garamond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280720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0E8"/>
                </a:solidFill>
                <a:latin typeface="Montserrat"/>
              </a:rPr>
              <a:t>Conciergerie privée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264408"/>
            <a:ext cx="5029200" cy="10972"/>
          </a:xfrm>
          <a:prstGeom prst="rect">
            <a:avLst/>
          </a:prstGeom>
          <a:solidFill>
            <a:srgbClr val="333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3419856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9A96E"/>
                </a:solidFill>
                <a:latin typeface="Garamond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3465576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0E8"/>
                </a:solidFill>
                <a:latin typeface="Montserrat"/>
              </a:rPr>
              <a:t>Application de réservation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922776"/>
            <a:ext cx="5029200" cy="10972"/>
          </a:xfrm>
          <a:prstGeom prst="rect">
            <a:avLst/>
          </a:prstGeom>
          <a:solidFill>
            <a:srgbClr val="333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35040" y="1965960"/>
            <a:ext cx="16459" cy="45720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E8E8E"/>
                </a:solidFill>
                <a:latin typeface="Montserrat"/>
              </a:rPr>
              <a:t>04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397"/>
            <a:ext cx="12191695" cy="2286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spc="200">
                <a:solidFill>
                  <a:srgbClr val="C9A96E"/>
                </a:solidFill>
                <a:latin typeface="Garamond"/>
              </a:rPr>
              <a:t>KF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0"/>
            <a:ext cx="5973775" cy="6858000"/>
          </a:xfrm>
          <a:prstGeom prst="rect">
            <a:avLst/>
          </a:prstGeom>
          <a:solidFill>
            <a:srgbClr val="2A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274320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444855"/>
                </a:solidFill>
                <a:latin typeface="Montserrat"/>
              </a:rPr>
              <a:t>[ Photo baby-sitter &amp; enfant
chambre d'hôtel luxueuse ]</a:t>
            </a:r>
          </a:p>
        </p:txBody>
      </p:sp>
      <p:sp>
        <p:nvSpPr>
          <p:cNvPr id="7" name="Rectangle 6"/>
          <p:cNvSpPr/>
          <p:nvPr/>
        </p:nvSpPr>
        <p:spPr>
          <a:xfrm>
            <a:off x="6199632" y="0"/>
            <a:ext cx="20116" cy="68580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86868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F5F0E8"/>
                </a:solidFill>
                <a:latin typeface="Garamond"/>
              </a:rPr>
              <a:t>Le baby-sitting,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173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C9A96E"/>
                </a:solidFill>
                <a:latin typeface="Garamond"/>
              </a:rPr>
              <a:t>en toute confiance.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011680"/>
            <a:ext cx="2011680" cy="18288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76272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200" b="0" i="1">
                <a:solidFill>
                  <a:srgbClr val="AAA8A4"/>
                </a:solidFill>
                <a:latin typeface="Garamond"/>
              </a:rPr>
              <a:t>Une présence douce, professionnelle et rassurante
pour veiller sur ce qui compte le plus.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99232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0E8"/>
                </a:solidFill>
                <a:latin typeface="Montserrat"/>
              </a:rPr>
              <a:t>—  Personnel sélectionné pour son professionnalisme et sa douceur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83280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0E8"/>
                </a:solidFill>
                <a:latin typeface="Montserrat"/>
              </a:rPr>
              <a:t>—  Garde ponctuelle, régulière ou pendant séjour hôtelier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67328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0E8"/>
                </a:solidFill>
                <a:latin typeface="Montserrat"/>
              </a:rPr>
              <a:t>—  Encadrement attentif, discret et adapté à l'âge de chaque enfant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51376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0E8"/>
                </a:solidFill>
                <a:latin typeface="Montserrat"/>
              </a:rPr>
              <a:t>—  Communication fluide avec les parents en temps réel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535424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0E8"/>
                </a:solidFill>
                <a:latin typeface="Montserrat"/>
              </a:rPr>
              <a:t>—  À domicile, en hôtel ou lors d'événements privés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779008"/>
            <a:ext cx="5212080" cy="13716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870448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</a:pPr>
            <a:r>
              <a:rPr sz="1000" b="0" i="1">
                <a:solidFill>
                  <a:srgbClr val="C9A96E"/>
                </a:solidFill>
                <a:latin typeface="Garamond"/>
              </a:rPr>
              <a:t>"Parce que la sérénité des parents commence par la confiance
accordée à la personne qui veille sur leurs enfants."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E8E8E"/>
                </a:solidFill>
                <a:latin typeface="Montserrat"/>
              </a:rPr>
              <a:t>05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397"/>
            <a:ext cx="12191695" cy="2286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22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292608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444855"/>
                </a:solidFill>
                <a:latin typeface="Montserrat"/>
              </a:rPr>
              <a:t>[ Photo Kids Club
enfants &amp; animatrice, riad marocain ]</a:t>
            </a:r>
          </a:p>
        </p:txBody>
      </p:sp>
      <p:sp>
        <p:nvSpPr>
          <p:cNvPr id="6" name="Rectangle 5"/>
          <p:cNvSpPr/>
          <p:nvPr/>
        </p:nvSpPr>
        <p:spPr>
          <a:xfrm>
            <a:off x="5468112" y="0"/>
            <a:ext cx="20116" cy="68580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0" y="20116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spc="200">
                <a:solidFill>
                  <a:srgbClr val="C9A96E"/>
                </a:solidFill>
                <a:latin typeface="Garamond"/>
              </a:rPr>
              <a:t>KF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777240"/>
            <a:ext cx="1234440" cy="34747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0" y="804672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 spc="300">
                <a:solidFill>
                  <a:srgbClr val="1A1F2E"/>
                </a:solidFill>
                <a:latin typeface="Montserrat"/>
              </a:rPr>
              <a:t>4 — 9 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1261872"/>
            <a:ext cx="5989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</a:pPr>
            <a:r>
              <a:rPr sz="2800" b="0" i="0">
                <a:solidFill>
                  <a:srgbClr val="F5F0E8"/>
                </a:solidFill>
                <a:latin typeface="Garamond"/>
              </a:rPr>
              <a:t>Un univers de découvertes,
de créativité et de joie.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2542032"/>
            <a:ext cx="2286000" cy="18288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0" y="2697480"/>
            <a:ext cx="5989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200" b="0" i="1">
                <a:solidFill>
                  <a:srgbClr val="AAA8A4"/>
                </a:solidFill>
                <a:latin typeface="Garamond"/>
              </a:rPr>
              <a:t>Imaginé pour les plus jeunes, dans un cadre élégant
et parfaitement encadré.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3456432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0E8"/>
                </a:solidFill>
                <a:latin typeface="Montserrat"/>
              </a:rPr>
              <a:t>—  Ateliers créatifs et activités manuelles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3822192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0E8"/>
                </a:solidFill>
                <a:latin typeface="Montserrat"/>
              </a:rPr>
              <a:t>—  Jeux encadrés, lecture et éveil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4187952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0E8"/>
                </a:solidFill>
                <a:latin typeface="Montserrat"/>
              </a:rPr>
              <a:t>—  Animations culturelles et récréatives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4553712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0E8"/>
                </a:solidFill>
                <a:latin typeface="Montserrat"/>
              </a:rPr>
              <a:t>—  Activités en intérieur ou en extérieur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4919472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0E8"/>
                </a:solidFill>
                <a:latin typeface="Montserrat"/>
              </a:rPr>
              <a:t>—  Accompagnement lors de séjours hôteliers et événements privés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60720" y="5760720"/>
            <a:ext cx="6035040" cy="13716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0" y="5870448"/>
            <a:ext cx="6035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</a:pPr>
            <a:r>
              <a:rPr sz="1000" b="0" i="1">
                <a:solidFill>
                  <a:srgbClr val="C9A96E"/>
                </a:solidFill>
                <a:latin typeface="Garamond"/>
              </a:rPr>
              <a:t>"Un monde à leur mesure, où l'imaginaire, le sourire et la douceur prennent toute leur place."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E8E8E"/>
                </a:solidFill>
                <a:latin typeface="Montserrat"/>
              </a:rPr>
              <a:t>06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2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397"/>
            <a:ext cx="12191695" cy="2286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spc="200">
                <a:solidFill>
                  <a:srgbClr val="C9A96E"/>
                </a:solidFill>
                <a:latin typeface="Garamond"/>
              </a:rPr>
              <a:t>KF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0"/>
            <a:ext cx="5973775" cy="6858000"/>
          </a:xfrm>
          <a:prstGeom prst="rect">
            <a:avLst/>
          </a:prstGeom>
          <a:solidFill>
            <a:srgbClr val="1E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292608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444855"/>
                </a:solidFill>
                <a:latin typeface="Montserrat"/>
              </a:rPr>
              <a:t>[ Photo Teen Club
adolescents atelier artistique, riad ]</a:t>
            </a:r>
          </a:p>
        </p:txBody>
      </p:sp>
      <p:sp>
        <p:nvSpPr>
          <p:cNvPr id="7" name="Rectangle 6"/>
          <p:cNvSpPr/>
          <p:nvPr/>
        </p:nvSpPr>
        <p:spPr>
          <a:xfrm>
            <a:off x="6199632" y="0"/>
            <a:ext cx="20116" cy="68580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749808"/>
            <a:ext cx="1417320" cy="34747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77724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 spc="300">
                <a:solidFill>
                  <a:srgbClr val="1A1F2E"/>
                </a:solidFill>
                <a:latin typeface="Montserrat"/>
              </a:rPr>
              <a:t>10 — 16 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261872"/>
            <a:ext cx="53035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</a:pPr>
            <a:r>
              <a:rPr sz="2600" b="0" i="0">
                <a:solidFill>
                  <a:srgbClr val="F5F0E8"/>
                </a:solidFill>
                <a:latin typeface="Garamond"/>
              </a:rPr>
              <a:t>Un espace dédié aux jeunes,
entre autonomie, énergie
et expériences encadrées.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2286000" cy="18288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999232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200" b="0" i="1">
                <a:solidFill>
                  <a:srgbClr val="AAA8A4"/>
                </a:solidFill>
                <a:latin typeface="Garamond"/>
              </a:rPr>
              <a:t>Une approche moderne, dynamique et pleinement adaptée
à leur univers.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03320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0E8"/>
                </a:solidFill>
                <a:latin typeface="Montserrat"/>
              </a:rPr>
              <a:t>—  Activités de groupe et défis ludiques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032504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0E8"/>
                </a:solidFill>
                <a:latin typeface="Montserrat"/>
              </a:rPr>
              <a:t>—  Ateliers créatifs modernes et jeux interactifs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361688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0E8"/>
                </a:solidFill>
                <a:latin typeface="Montserrat"/>
              </a:rPr>
              <a:t>—  Animations adaptées aux hôtels, resorts et événements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690872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0E8"/>
                </a:solidFill>
                <a:latin typeface="Montserrat"/>
              </a:rPr>
              <a:t>—  Encadrement professionnel discret et bienveillant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020056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0E8"/>
                </a:solidFill>
                <a:latin typeface="Montserrat"/>
              </a:rPr>
              <a:t>—  Expression de soi, convivialité et sens du dépassement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349240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0E8"/>
                </a:solidFill>
                <a:latin typeface="Montserrat"/>
              </a:rPr>
              <a:t>—  Équilibre subtil entre liberté et cadre structurant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760720"/>
            <a:ext cx="5303520" cy="13716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870448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</a:pPr>
            <a:r>
              <a:rPr sz="1000" b="0" i="1">
                <a:solidFill>
                  <a:srgbClr val="C9A96E"/>
                </a:solidFill>
                <a:latin typeface="Garamond"/>
              </a:rPr>
              <a:t>"Un espace pensé pour les jeunes d'aujourd'hui, avec l'élégance d'un service qui comprend vraiment leurs besoins."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E8E8E"/>
                </a:solidFill>
                <a:latin typeface="Montserrat"/>
              </a:rPr>
              <a:t>07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274320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444855"/>
                </a:solidFill>
                <a:latin typeface="Montserrat"/>
              </a:rPr>
              <a:t>[ Photo pleine page — Enfants jouant sur pelouse de palace marocain
Coucher de soleil, palmiers, animatrice, atmosphère magique ]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A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32397"/>
            <a:ext cx="12191695" cy="2286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5F0E8"/>
                </a:solidFill>
                <a:latin typeface="Garamond"/>
              </a:rPr>
              <a:t>Des moments vivants, encadrés et mémorables.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663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9A96E"/>
                </a:solidFill>
                <a:latin typeface="Garamond"/>
              </a:rPr>
              <a:t>Dans les jardins, les espaces extérieurs et les terrasses des plus beaux établissements.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715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0E8"/>
                </a:solidFill>
                <a:latin typeface="Montserrat"/>
              </a:rPr>
              <a:t>◆  Un encadrement pensé pour chaque instant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0076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0E8"/>
                </a:solidFill>
                <a:latin typeface="Montserrat"/>
              </a:rPr>
              <a:t>◆  Activités alliant plaisir, sécurité et découverte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0216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0E8"/>
                </a:solidFill>
                <a:latin typeface="Montserrat"/>
              </a:rPr>
              <a:t>◆  Une présence humaine discrète mais toujours attentive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E8E8E"/>
                </a:solidFill>
                <a:latin typeface="Montserrat"/>
              </a:rPr>
              <a:t>08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397"/>
            <a:ext cx="12191695" cy="2286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217920" y="0"/>
            <a:ext cx="5973775" cy="6858000"/>
          </a:xfrm>
          <a:prstGeom prst="rect">
            <a:avLst/>
          </a:prstGeom>
          <a:solidFill>
            <a:srgbClr val="22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0" y="292608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444855"/>
                </a:solidFill>
                <a:latin typeface="Montserrat"/>
              </a:rPr>
              <a:t>[ Photo mère avec tablette
chambre riad premium, baby-sitter &amp; enfant ]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9632" y="0"/>
            <a:ext cx="20116" cy="68580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20116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spc="200">
                <a:solidFill>
                  <a:srgbClr val="C9A96E"/>
                </a:solidFill>
                <a:latin typeface="Garamond"/>
              </a:rPr>
              <a:t>KF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686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5F0E8"/>
                </a:solidFill>
                <a:latin typeface="Garamond"/>
              </a:rPr>
              <a:t>Une application pensée pour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5331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9A96E"/>
                </a:solidFill>
                <a:latin typeface="Garamond"/>
              </a:rPr>
              <a:t>simplifier chaque réservation.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938528"/>
            <a:ext cx="2286000" cy="18288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0312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200" b="0" i="1">
                <a:solidFill>
                  <a:srgbClr val="AAA8A4"/>
                </a:solidFill>
                <a:latin typeface="Garamond"/>
              </a:rPr>
              <a:t>La technologie au service d'une expérience plus fluide,
plus simple et plus rassurante.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80360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0E8"/>
                </a:solidFill>
                <a:latin typeface="Montserrat"/>
              </a:rPr>
              <a:t>◆  Réservation rapide via QR Code ou NFC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27832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0E8"/>
                </a:solidFill>
                <a:latin typeface="Montserrat"/>
              </a:rPr>
              <a:t>◆  Choix de la date, l'heure et du nombre d'enfants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75304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0E8"/>
                </a:solidFill>
                <a:latin typeface="Montserrat"/>
              </a:rPr>
              <a:t>◆  Formulaire simple et structuré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922776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0E8"/>
                </a:solidFill>
                <a:latin typeface="Montserrat"/>
              </a:rPr>
              <a:t>◆  Suivi en temps réel de la demande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70248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0E8"/>
                </a:solidFill>
                <a:latin typeface="Montserrat"/>
              </a:rPr>
              <a:t>◆  Confirmation et échanges via WhatsApp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617720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0E8"/>
                </a:solidFill>
                <a:latin typeface="Montserrat"/>
              </a:rPr>
              <a:t>◆  Gestion centralisée des réservations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965192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0E8"/>
                </a:solidFill>
                <a:latin typeface="Montserrat"/>
              </a:rPr>
              <a:t>◆  Interface intuitive pour familles et hôtels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779008"/>
            <a:ext cx="5303520" cy="13716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870448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</a:pPr>
            <a:r>
              <a:rPr sz="1000" b="0" i="1">
                <a:solidFill>
                  <a:srgbClr val="C9A96E"/>
                </a:solidFill>
                <a:latin typeface="Garamond"/>
              </a:rPr>
              <a:t>"Une solution digitale élégante, conçue pour rendre le service encore plus fluide
sans jamais perdre sa dimension humaine."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E8E8E"/>
                </a:solidFill>
                <a:latin typeface="Montserrat"/>
              </a:rPr>
              <a:t>09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397"/>
            <a:ext cx="12191695" cy="2286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22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292608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444855"/>
                </a:solidFill>
                <a:latin typeface="Montserrat"/>
              </a:rPr>
              <a:t>[ Photo collaboratrice &amp; dame âgée élégante
riad, lumière dorée chaude ]</a:t>
            </a:r>
          </a:p>
        </p:txBody>
      </p:sp>
      <p:sp>
        <p:nvSpPr>
          <p:cNvPr id="6" name="Rectangle 5"/>
          <p:cNvSpPr/>
          <p:nvPr/>
        </p:nvSpPr>
        <p:spPr>
          <a:xfrm>
            <a:off x="5468112" y="0"/>
            <a:ext cx="20116" cy="68580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0" y="20116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spc="200">
                <a:solidFill>
                  <a:srgbClr val="C9A96E"/>
                </a:solidFill>
                <a:latin typeface="Garamond"/>
              </a:rPr>
              <a:t>KF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868680"/>
            <a:ext cx="5989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5F0E8"/>
                </a:solidFill>
                <a:latin typeface="Garamond"/>
              </a:rPr>
              <a:t>Le service humain,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1389888"/>
            <a:ext cx="5989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C9A96E"/>
                </a:solidFill>
                <a:latin typeface="Garamond"/>
              </a:rPr>
              <a:t>l'élégance du quotidien.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0" y="1965960"/>
            <a:ext cx="2286000" cy="18288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0" y="2121408"/>
            <a:ext cx="5989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200" b="0" i="1">
                <a:solidFill>
                  <a:srgbClr val="AAA8A4"/>
                </a:solidFill>
                <a:latin typeface="Garamond"/>
              </a:rPr>
              <a:t>Parce qu'un service d'exception ne se mesure pas à la richesse
de ses moyens, mais à la qualité de sa présence.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2999232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0E8"/>
                </a:solidFill>
                <a:latin typeface="Montserrat"/>
              </a:rPr>
              <a:t>—  Aide ponctuelle ou régulière au quotidien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3346704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0E8"/>
                </a:solidFill>
                <a:latin typeface="Montserrat"/>
              </a:rPr>
              <a:t>—  Accompagnement : courses, repas, promenades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3694176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0E8"/>
                </a:solidFill>
                <a:latin typeface="Montserrat"/>
              </a:rPr>
              <a:t>—  Soins de confort : coiffure, aide à l'habillement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4041648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0E8"/>
                </a:solidFill>
                <a:latin typeface="Montserrat"/>
              </a:rPr>
              <a:t>—  Présence bienveillante et compagnie rassurante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4389120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0E8"/>
                </a:solidFill>
                <a:latin typeface="Montserrat"/>
              </a:rPr>
              <a:t>—  Interface discrète entre famille et intervenants médicaux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4736592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0E8"/>
                </a:solidFill>
                <a:latin typeface="Montserrat"/>
              </a:rPr>
              <a:t>—  Service digne &amp; raffiné — le soin du lien professionnel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60720" y="5779008"/>
            <a:ext cx="6035040" cy="13716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0" y="5870448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9A96E"/>
                </a:solidFill>
                <a:latin typeface="Garamond"/>
              </a:rPr>
              <a:t>"Servir avec cœur, accompagner avec élégance."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E8E8E"/>
                </a:solidFill>
                <a:latin typeface="Montserrat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0" y="182880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444855"/>
                </a:solidFill>
                <a:latin typeface="Montserrat"/>
              </a:rPr>
              <a:t>[ Photo décoration florale somptueuse, table dressée bord de piscine,
riad fleuri, chandelles, lumière dorée magique ]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3474720"/>
            <a:ext cx="12191695" cy="3383280"/>
          </a:xfrm>
          <a:prstGeom prst="rect">
            <a:avLst/>
          </a:prstGeom>
          <a:solidFill>
            <a:srgbClr val="0A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32397"/>
            <a:ext cx="12191695" cy="2286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2286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70332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F5F0E8"/>
                </a:solidFill>
                <a:latin typeface="Garamond"/>
              </a:rPr>
              <a:t>L'art de célébrer avec raffinement.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8056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9A96E"/>
                </a:solidFill>
                <a:latin typeface="Garamond"/>
              </a:rPr>
              <a:t>Mariages · Anniversaires · Demandes en mariage · Voyages de noces · Dîners étoilés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5010912"/>
            <a:ext cx="4846320" cy="16459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5166360"/>
            <a:ext cx="9418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5F0E8"/>
                </a:solidFill>
                <a:latin typeface="Montserrat"/>
              </a:rPr>
              <a:t>◆  Mariages &amp; réceptions privées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458968"/>
            <a:ext cx="9418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5F0E8"/>
                </a:solidFill>
                <a:latin typeface="Montserrat"/>
              </a:rPr>
              <a:t>◆  Dîners d'entreprise et soirées exclusives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751576"/>
            <a:ext cx="9418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5F0E8"/>
                </a:solidFill>
                <a:latin typeface="Montserrat"/>
              </a:rPr>
              <a:t>◆  Anniversaires et demandes en mariage sur mesure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6044184"/>
            <a:ext cx="9418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5F0E8"/>
                </a:solidFill>
                <a:latin typeface="Montserrat"/>
              </a:rPr>
              <a:t>◆  Décoration, mise en scène &amp; coordination complète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0" y="6355080"/>
            <a:ext cx="4846320" cy="13716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6446520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9A96E"/>
                </a:solidFill>
                <a:latin typeface="Garamond"/>
              </a:rPr>
              <a:t>"L'élégance d'un instant, la perfection d'un souvenir."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E8E8E"/>
                </a:solidFill>
                <a:latin typeface="Montserrat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397"/>
            <a:ext cx="12191695" cy="2286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spc="200">
                <a:solidFill>
                  <a:srgbClr val="C9A96E"/>
                </a:solidFill>
                <a:latin typeface="Garamond"/>
              </a:rPr>
              <a:t>KF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0"/>
            <a:ext cx="5973775" cy="6858000"/>
          </a:xfrm>
          <a:prstGeom prst="rect">
            <a:avLst/>
          </a:prstGeom>
          <a:solidFill>
            <a:srgbClr val="22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292608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444855"/>
                </a:solidFill>
                <a:latin typeface="Montserrat"/>
              </a:rPr>
              <a:t>[ Photo concierge palace
hôtel marocain luxueux ]</a:t>
            </a:r>
          </a:p>
        </p:txBody>
      </p:sp>
      <p:sp>
        <p:nvSpPr>
          <p:cNvPr id="7" name="Rectangle 6"/>
          <p:cNvSpPr/>
          <p:nvPr/>
        </p:nvSpPr>
        <p:spPr>
          <a:xfrm>
            <a:off x="6199632" y="0"/>
            <a:ext cx="20116" cy="68580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841248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5F0E8"/>
                </a:solidFill>
                <a:latin typeface="Garamond"/>
              </a:rPr>
              <a:t>Conciergerie privée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C9A96E"/>
                </a:solidFill>
                <a:latin typeface="Garamond"/>
              </a:rPr>
              <a:t>&amp; assistance exclusive.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938528"/>
            <a:ext cx="2286000" cy="18288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2140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A8A4"/>
                </a:solidFill>
                <a:latin typeface="Garamond"/>
              </a:rPr>
              <a:t>Le luxe ultime : ne plus avoir à s'en soucier.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5176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050" b="0" i="0">
                <a:solidFill>
                  <a:srgbClr val="F5F0E8"/>
                </a:solidFill>
                <a:latin typeface="Montserrat"/>
              </a:rPr>
              <a:t>Notre service combine discrétion, réactivité et excellence du détail
pour un accompagnement intégral et parfaitement maîtrisé.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93008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0E8"/>
                </a:solidFill>
                <a:latin typeface="Montserrat"/>
              </a:rPr>
              <a:t>—  Réservations : restaurants, hôtels, événements privés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40480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0E8"/>
                </a:solidFill>
                <a:latin typeface="Montserrat"/>
              </a:rPr>
              <a:t>—  Transferts &amp; accueil aéroport / gare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87952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0E8"/>
                </a:solidFill>
                <a:latin typeface="Montserrat"/>
              </a:rPr>
              <a:t>—  Livraison de cadeaux &amp; gestion d'imprévus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535424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0E8"/>
                </a:solidFill>
                <a:latin typeface="Montserrat"/>
              </a:rPr>
              <a:t>—  Organisation de séjours personnalisés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82896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0E8"/>
                </a:solidFill>
                <a:latin typeface="Montserrat"/>
              </a:rPr>
              <a:t>—  Courses, intendance et services urgents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230368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0E8"/>
                </a:solidFill>
                <a:latin typeface="Montserrat"/>
              </a:rPr>
              <a:t>—  Coordination multilingue (français, anglais, arabe)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779008"/>
            <a:ext cx="5303520" cy="13716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870448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9A96E"/>
                </a:solidFill>
                <a:latin typeface="Garamond"/>
              </a:rPr>
              <a:t>"Votre confort, notre mission. Votre confiance, notre signature."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E8E8E"/>
                </a:solidFill>
                <a:latin typeface="Montserrat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2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397"/>
            <a:ext cx="12191695" cy="2286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spc="200">
                <a:solidFill>
                  <a:srgbClr val="C9A96E"/>
                </a:solidFill>
                <a:latin typeface="Garamond"/>
              </a:rPr>
              <a:t>KF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8580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F5F0E8"/>
                </a:solidFill>
                <a:latin typeface="Garamond"/>
              </a:rPr>
              <a:t>Ils nous font confiance.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298448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9A96E"/>
                </a:solidFill>
                <a:latin typeface="Garamond"/>
              </a:rPr>
              <a:t>La satisfaction de nos clients est notre plus belle reconnaissance.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0" y="1737360"/>
            <a:ext cx="2286000" cy="16459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965960"/>
            <a:ext cx="3520440" cy="169164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0116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C9A96E"/>
                </a:solidFill>
                <a:latin typeface="Garamond"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441448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900" b="0" i="1">
                <a:solidFill>
                  <a:srgbClr val="F5F0E8"/>
                </a:solidFill>
                <a:latin typeface="Garamond"/>
              </a:rPr>
              <a:t>"Faiza Multiservice fait preuve d'un professionnalisme remarquable.
Leur équipe comprend parfaitement les exigences du service hôtelier."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3200400"/>
            <a:ext cx="3200400" cy="1097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3273552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 spc="200">
                <a:solidFill>
                  <a:srgbClr val="C9A96E"/>
                </a:solidFill>
                <a:latin typeface="Montserrat"/>
              </a:rPr>
              <a:t>Sofitel — Partenaire hôtelier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5968" y="1965960"/>
            <a:ext cx="3520440" cy="169164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3128" y="20116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C9A96E"/>
                </a:solidFill>
                <a:latin typeface="Garamon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441448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900" b="0" i="1">
                <a:solidFill>
                  <a:srgbClr val="F5F0E8"/>
                </a:solidFill>
                <a:latin typeface="Garamond"/>
              </a:rPr>
              <a:t>"Collaborer avec Faiza Multiservice, c'est choisir la confiance.
Leur sens du détail fait toute la différence."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3200400"/>
            <a:ext cx="3200400" cy="1097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3273552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 spc="200">
                <a:solidFill>
                  <a:srgbClr val="C9A96E"/>
                </a:solidFill>
                <a:latin typeface="Montserrat"/>
              </a:rPr>
              <a:t>W Hotels — Partenaire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83879" y="1965960"/>
            <a:ext cx="3520440" cy="169164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39" y="20116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C9A96E"/>
                </a:solidFill>
                <a:latin typeface="Garamond"/>
              </a:rPr>
              <a:t>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1" y="2441448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900" b="0" i="1">
                <a:solidFill>
                  <a:srgbClr val="F5F0E8"/>
                </a:solidFill>
                <a:latin typeface="Garamond"/>
              </a:rPr>
              <a:t>"Un service fluide, professionnel et humain.
Nous ne nous en passons plus."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48471" y="3200400"/>
            <a:ext cx="3200400" cy="1097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48471" y="3273552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 spc="200">
                <a:solidFill>
                  <a:srgbClr val="C9A96E"/>
                </a:solidFill>
                <a:latin typeface="Montserrat"/>
              </a:rPr>
              <a:t>Famille Benhima — Casablanca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77440" y="3840480"/>
            <a:ext cx="3520440" cy="169164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38862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C9A96E"/>
                </a:solidFill>
                <a:latin typeface="Garamond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42032" y="4315968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900" b="0" i="1">
                <a:solidFill>
                  <a:srgbClr val="F5F0E8"/>
                </a:solidFill>
                <a:latin typeface="Garamond"/>
              </a:rPr>
              <a:t>"Pendant nos vacances à Agadir, ils ont pris soin de nos enfants
avec une douceur et une attention incroyables."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42032" y="5074920"/>
            <a:ext cx="3200400" cy="1097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42032" y="5148072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 spc="200">
                <a:solidFill>
                  <a:srgbClr val="C9A96E"/>
                </a:solidFill>
                <a:latin typeface="Montserrat"/>
              </a:rPr>
              <a:t>Dan Cohen — Tel Aviv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3840480"/>
            <a:ext cx="3520440" cy="169164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8862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C9A96E"/>
                </a:solidFill>
                <a:latin typeface="Garamond"/>
              </a:rPr>
              <a:t>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8232" y="4315968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900" b="0" i="1">
                <a:solidFill>
                  <a:srgbClr val="F5F0E8"/>
                </a:solidFill>
                <a:latin typeface="Garamond"/>
              </a:rPr>
              <a:t>"La bienveillance et le professionnalisme m'ont profondément touchée.
Un service d'une qualité rare."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28232" y="5074920"/>
            <a:ext cx="3200400" cy="1097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28232" y="5148072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 spc="200">
                <a:solidFill>
                  <a:srgbClr val="C9A96E"/>
                </a:solidFill>
                <a:latin typeface="Montserrat"/>
              </a:rPr>
              <a:t>Mme Zahra El Amrani — Agadir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E8E8E"/>
                </a:solidFill>
                <a:latin typeface="Montserrat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397"/>
            <a:ext cx="12191695" cy="2286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spc="200">
                <a:solidFill>
                  <a:srgbClr val="C9A96E"/>
                </a:solidFill>
                <a:latin typeface="Garamond"/>
              </a:rPr>
              <a:t>KF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400"/>
              </a:lnSpc>
            </a:pPr>
            <a:r>
              <a:rPr sz="3200" b="0" i="0">
                <a:solidFill>
                  <a:srgbClr val="F5F0E8"/>
                </a:solidFill>
                <a:latin typeface="Garamond"/>
              </a:rPr>
              <a:t>Un engagement fondé sur la confiance,
la qualité et la discrétion.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1920240"/>
            <a:ext cx="3931920" cy="18288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103120"/>
            <a:ext cx="9418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200"/>
              </a:lnSpc>
            </a:pPr>
            <a:r>
              <a:rPr sz="1300" b="0" i="1">
                <a:solidFill>
                  <a:srgbClr val="AAA8A4"/>
                </a:solidFill>
                <a:latin typeface="Garamond"/>
              </a:rPr>
              <a:t>Chaque collaborateur est formé et sélectionné pour garantir
un service humain, éthique et d'une exigence absolue.</a:t>
            </a:r>
          </a:p>
        </p:txBody>
      </p:sp>
      <p:sp>
        <p:nvSpPr>
          <p:cNvPr id="8" name="Rectangle 7"/>
          <p:cNvSpPr/>
          <p:nvPr/>
        </p:nvSpPr>
        <p:spPr>
          <a:xfrm>
            <a:off x="1874520" y="2880360"/>
            <a:ext cx="1097280" cy="54864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0632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</a:pPr>
            <a:r>
              <a:rPr sz="1100" b="1" i="0" spc="200">
                <a:solidFill>
                  <a:srgbClr val="F5F0E8"/>
                </a:solidFill>
                <a:latin typeface="Montserrat"/>
              </a:rPr>
              <a:t>SÉCURITÉ &amp;
BIENVEILLANCE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63040" y="3959352"/>
            <a:ext cx="1920240" cy="13716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1148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00"/>
              </a:lnSpc>
            </a:pPr>
            <a:r>
              <a:rPr sz="1150" b="0" i="1">
                <a:solidFill>
                  <a:srgbClr val="AAA8A4"/>
                </a:solidFill>
                <a:latin typeface="Garamond"/>
              </a:rPr>
              <a:t>Chaque membre est sélectionné, formé et évalué selon les standards les plus rigoureux. Votre sécurité est notre priorité absolue.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57800" y="2880360"/>
            <a:ext cx="1097280" cy="54864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30632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</a:pPr>
            <a:r>
              <a:rPr sz="1100" b="1" i="0" spc="200">
                <a:solidFill>
                  <a:srgbClr val="F5F0E8"/>
                </a:solidFill>
                <a:latin typeface="Montserrat"/>
              </a:rPr>
              <a:t>CONFIANCE &amp;
TRANSPARENCE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3959352"/>
            <a:ext cx="1920240" cy="13716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0" y="41148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00"/>
              </a:lnSpc>
            </a:pPr>
            <a:r>
              <a:rPr sz="1150" b="0" i="1">
                <a:solidFill>
                  <a:srgbClr val="AAA8A4"/>
                </a:solidFill>
                <a:latin typeface="Garamond"/>
              </a:rPr>
              <a:t>Nous privilégions la clarté avec nos clients à chaque étape de la mission. Chaque demande est traitée avec soin et confidentialité.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41080" y="2880360"/>
            <a:ext cx="1097280" cy="54864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0" y="30632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</a:pPr>
            <a:r>
              <a:rPr sz="1100" b="1" i="0" spc="200">
                <a:solidFill>
                  <a:srgbClr val="F5F0E8"/>
                </a:solidFill>
                <a:latin typeface="Montserrat"/>
              </a:rPr>
              <a:t>RESPONSABILITÉ &amp;
AUTHENTICITÉ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3959352"/>
            <a:ext cx="1920240" cy="13716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0" y="41148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00"/>
              </a:lnSpc>
            </a:pPr>
            <a:r>
              <a:rPr sz="1150" b="0" i="1">
                <a:solidFill>
                  <a:srgbClr val="AAA8A4"/>
                </a:solidFill>
                <a:latin typeface="Garamond"/>
              </a:rPr>
              <a:t>Nous valorisons le travail local, l'éthique et un service inspiré par les valeurs marocaines de respect et d'hospitalité.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0" y="2880360"/>
            <a:ext cx="16459" cy="3657600"/>
          </a:xfrm>
          <a:prstGeom prst="rect">
            <a:avLst/>
          </a:prstGeom>
          <a:solidFill>
            <a:srgbClr val="333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79" y="2880360"/>
            <a:ext cx="16459" cy="3657600"/>
          </a:xfrm>
          <a:prstGeom prst="rect">
            <a:avLst/>
          </a:prstGeom>
          <a:solidFill>
            <a:srgbClr val="333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E8E8E"/>
                </a:solidFill>
                <a:latin typeface="Montserrat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2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397"/>
            <a:ext cx="12191695" cy="2286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spc="200">
                <a:solidFill>
                  <a:srgbClr val="C9A96E"/>
                </a:solidFill>
                <a:latin typeface="Garamond"/>
              </a:rPr>
              <a:t>KF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5F0E8"/>
                </a:solidFill>
                <a:latin typeface="Garamond"/>
              </a:rPr>
              <a:t>Une réponse haut de gamme aux besoins du quotidien.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5331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9A96E"/>
                </a:solidFill>
                <a:latin typeface="Garamond"/>
              </a:rPr>
              <a:t>Ce qui nous distingue, c'est la qualité de notre présence — humaine, professionnelle et toujours personnalisée.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6459"/>
          </a:xfrm>
          <a:prstGeom prst="rect">
            <a:avLst/>
          </a:prstGeom>
          <a:solidFill>
            <a:srgbClr val="333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82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C9A96E"/>
                </a:solidFill>
                <a:latin typeface="Garamon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8483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spc="250">
                <a:solidFill>
                  <a:srgbClr val="F5F0E8"/>
                </a:solidFill>
                <a:latin typeface="Montserrat"/>
              </a:rPr>
              <a:t>SERVICE HUMAIN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423160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150" b="0" i="1">
                <a:solidFill>
                  <a:srgbClr val="AAA8A4"/>
                </a:solidFill>
                <a:latin typeface="Garamond"/>
              </a:rPr>
              <a:t>Des intervenants sélectionnés pour leur savoir-faire,
leur élégance et leur sens profond du service.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52928"/>
            <a:ext cx="10972800" cy="10972"/>
          </a:xfrm>
          <a:prstGeom prst="rect">
            <a:avLst/>
          </a:prstGeom>
          <a:solidFill>
            <a:srgbClr val="333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907792"/>
            <a:ext cx="82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C9A96E"/>
                </a:solidFill>
                <a:latin typeface="Garamon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980944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spc="250">
                <a:solidFill>
                  <a:srgbClr val="F5F0E8"/>
                </a:solidFill>
                <a:latin typeface="Montserrat"/>
              </a:rPr>
              <a:t>EXPÉRIENCE PREMIUM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319272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150" b="0" i="1">
                <a:solidFill>
                  <a:srgbClr val="AAA8A4"/>
                </a:solidFill>
                <a:latin typeface="Garamond"/>
              </a:rPr>
              <a:t>Un niveau d'excellence inspiré des standards
des grands hôtels et palaces internationaux.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749040"/>
            <a:ext cx="10972800" cy="10972"/>
          </a:xfrm>
          <a:prstGeom prst="rect">
            <a:avLst/>
          </a:prstGeom>
          <a:solidFill>
            <a:srgbClr val="333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803904"/>
            <a:ext cx="82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C9A96E"/>
                </a:solidFill>
                <a:latin typeface="Garamond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877056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spc="250">
                <a:solidFill>
                  <a:srgbClr val="F5F0E8"/>
                </a:solidFill>
                <a:latin typeface="Montserrat"/>
              </a:rPr>
              <a:t>FLEXIBILITÉ TOTALE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215384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150" b="0" i="1">
                <a:solidFill>
                  <a:srgbClr val="AAA8A4"/>
                </a:solidFill>
                <a:latin typeface="Garamond"/>
              </a:rPr>
              <a:t>Ponctuel, régulier ou sur mesure — nous nous adaptons
à chaque besoin, chaque rythme de vie.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645152"/>
            <a:ext cx="10972800" cy="10972"/>
          </a:xfrm>
          <a:prstGeom prst="rect">
            <a:avLst/>
          </a:prstGeom>
          <a:solidFill>
            <a:srgbClr val="333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700016"/>
            <a:ext cx="82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C9A96E"/>
                </a:solidFill>
                <a:latin typeface="Garamond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77316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spc="250">
                <a:solidFill>
                  <a:srgbClr val="F5F0E8"/>
                </a:solidFill>
                <a:latin typeface="Montserrat"/>
              </a:rPr>
              <a:t>ENCADREMENT FIABLE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5111496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150" b="0" i="1">
                <a:solidFill>
                  <a:srgbClr val="AAA8A4"/>
                </a:solidFill>
                <a:latin typeface="Garamond"/>
              </a:rPr>
              <a:t>Disponibles 7j/7, réactifs, coordonnés via
une gestion professionnelle centralisée.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541264"/>
            <a:ext cx="10972800" cy="10972"/>
          </a:xfrm>
          <a:prstGeom prst="rect">
            <a:avLst/>
          </a:prstGeom>
          <a:solidFill>
            <a:srgbClr val="333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596128"/>
            <a:ext cx="82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C9A96E"/>
                </a:solidFill>
                <a:latin typeface="Garamond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5669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spc="250">
                <a:solidFill>
                  <a:srgbClr val="F5F0E8"/>
                </a:solidFill>
                <a:latin typeface="Montserrat"/>
              </a:rPr>
              <a:t>PARTENAIRE HÔTELS &amp; PRIVÉS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6007608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150" b="0" i="1">
                <a:solidFill>
                  <a:srgbClr val="AAA8A4"/>
                </a:solidFill>
                <a:latin typeface="Garamond"/>
              </a:rPr>
              <a:t>Une solution qui comprend les exigences des hôtels
comme des familles et clients privés les plus exigeants.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6437376"/>
            <a:ext cx="10972800" cy="10972"/>
          </a:xfrm>
          <a:prstGeom prst="rect">
            <a:avLst/>
          </a:prstGeom>
          <a:solidFill>
            <a:srgbClr val="333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E8E8E"/>
                </a:solidFill>
                <a:latin typeface="Montserrat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0" y="0"/>
            <a:ext cx="27432" cy="6858000"/>
          </a:xfrm>
          <a:prstGeom prst="rect">
            <a:avLst/>
          </a:prstGeom>
          <a:solidFill>
            <a:srgbClr val="2A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457200" y="0"/>
            <a:ext cx="27432" cy="6858000"/>
          </a:xfrm>
          <a:prstGeom prst="rect">
            <a:avLst/>
          </a:prstGeom>
          <a:solidFill>
            <a:srgbClr val="2A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" cy="6858000"/>
          </a:xfrm>
          <a:prstGeom prst="rect">
            <a:avLst/>
          </a:prstGeom>
          <a:solidFill>
            <a:srgbClr val="2A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0"/>
            <a:ext cx="27432" cy="6858000"/>
          </a:xfrm>
          <a:prstGeom prst="rect">
            <a:avLst/>
          </a:prstGeom>
          <a:solidFill>
            <a:srgbClr val="2A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0"/>
            <a:ext cx="27432" cy="6858000"/>
          </a:xfrm>
          <a:prstGeom prst="rect">
            <a:avLst/>
          </a:prstGeom>
          <a:solidFill>
            <a:srgbClr val="2A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0"/>
            <a:ext cx="27432" cy="6858000"/>
          </a:xfrm>
          <a:prstGeom prst="rect">
            <a:avLst/>
          </a:prstGeom>
          <a:solidFill>
            <a:srgbClr val="2A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0" y="0"/>
            <a:ext cx="27432" cy="6858000"/>
          </a:xfrm>
          <a:prstGeom prst="rect">
            <a:avLst/>
          </a:prstGeom>
          <a:solidFill>
            <a:srgbClr val="2A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0" y="0"/>
            <a:ext cx="27432" cy="6858000"/>
          </a:xfrm>
          <a:prstGeom prst="rect">
            <a:avLst/>
          </a:prstGeom>
          <a:solidFill>
            <a:srgbClr val="2A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0" y="0"/>
            <a:ext cx="27432" cy="6858000"/>
          </a:xfrm>
          <a:prstGeom prst="rect">
            <a:avLst/>
          </a:prstGeom>
          <a:solidFill>
            <a:srgbClr val="2A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0"/>
            <a:ext cx="27432" cy="6858000"/>
          </a:xfrm>
          <a:prstGeom prst="rect">
            <a:avLst/>
          </a:prstGeom>
          <a:solidFill>
            <a:srgbClr val="2A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0"/>
            <a:ext cx="27432" cy="6858000"/>
          </a:xfrm>
          <a:prstGeom prst="rect">
            <a:avLst/>
          </a:prstGeom>
          <a:solidFill>
            <a:srgbClr val="2A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0"/>
            <a:ext cx="27432" cy="6858000"/>
          </a:xfrm>
          <a:prstGeom prst="rect">
            <a:avLst/>
          </a:prstGeom>
          <a:solidFill>
            <a:srgbClr val="2A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0"/>
            <a:ext cx="27432" cy="6858000"/>
          </a:xfrm>
          <a:prstGeom prst="rect">
            <a:avLst/>
          </a:prstGeom>
          <a:solidFill>
            <a:srgbClr val="2A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0"/>
            <a:ext cx="27432" cy="6858000"/>
          </a:xfrm>
          <a:prstGeom prst="rect">
            <a:avLst/>
          </a:prstGeom>
          <a:solidFill>
            <a:srgbClr val="2A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0"/>
            <a:ext cx="27432" cy="6858000"/>
          </a:xfrm>
          <a:prstGeom prst="rect">
            <a:avLst/>
          </a:prstGeom>
          <a:solidFill>
            <a:srgbClr val="2A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0"/>
            <a:ext cx="27432" cy="6858000"/>
          </a:xfrm>
          <a:prstGeom prst="rect">
            <a:avLst/>
          </a:prstGeom>
          <a:solidFill>
            <a:srgbClr val="2A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0"/>
            <a:ext cx="27432" cy="6858000"/>
          </a:xfrm>
          <a:prstGeom prst="rect">
            <a:avLst/>
          </a:prstGeom>
          <a:solidFill>
            <a:srgbClr val="2A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0" y="0"/>
            <a:ext cx="27432" cy="6858000"/>
          </a:xfrm>
          <a:prstGeom prst="rect">
            <a:avLst/>
          </a:prstGeom>
          <a:solidFill>
            <a:srgbClr val="2A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0" y="0"/>
            <a:ext cx="27432" cy="6858000"/>
          </a:xfrm>
          <a:prstGeom prst="rect">
            <a:avLst/>
          </a:prstGeom>
          <a:solidFill>
            <a:srgbClr val="2A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0" y="0"/>
            <a:ext cx="27432" cy="6858000"/>
          </a:xfrm>
          <a:prstGeom prst="rect">
            <a:avLst/>
          </a:prstGeom>
          <a:solidFill>
            <a:srgbClr val="2A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0"/>
            <a:ext cx="27432" cy="6858000"/>
          </a:xfrm>
          <a:prstGeom prst="rect">
            <a:avLst/>
          </a:prstGeom>
          <a:solidFill>
            <a:srgbClr val="2A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0" y="0"/>
            <a:ext cx="27432" cy="6858000"/>
          </a:xfrm>
          <a:prstGeom prst="rect">
            <a:avLst/>
          </a:prstGeom>
          <a:solidFill>
            <a:srgbClr val="2A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0" y="0"/>
            <a:ext cx="27432" cy="6858000"/>
          </a:xfrm>
          <a:prstGeom prst="rect">
            <a:avLst/>
          </a:prstGeom>
          <a:solidFill>
            <a:srgbClr val="2A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0" y="0"/>
            <a:ext cx="27432" cy="6858000"/>
          </a:xfrm>
          <a:prstGeom prst="rect">
            <a:avLst/>
          </a:prstGeom>
          <a:solidFill>
            <a:srgbClr val="2A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58400" y="0"/>
            <a:ext cx="27432" cy="6858000"/>
          </a:xfrm>
          <a:prstGeom prst="rect">
            <a:avLst/>
          </a:prstGeom>
          <a:solidFill>
            <a:srgbClr val="2A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515600" y="0"/>
            <a:ext cx="27432" cy="6858000"/>
          </a:xfrm>
          <a:prstGeom prst="rect">
            <a:avLst/>
          </a:prstGeom>
          <a:solidFill>
            <a:srgbClr val="2A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972800" y="0"/>
            <a:ext cx="27432" cy="6858000"/>
          </a:xfrm>
          <a:prstGeom prst="rect">
            <a:avLst/>
          </a:prstGeom>
          <a:solidFill>
            <a:srgbClr val="2A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0" y="0"/>
            <a:ext cx="27432" cy="6858000"/>
          </a:xfrm>
          <a:prstGeom prst="rect">
            <a:avLst/>
          </a:prstGeom>
          <a:solidFill>
            <a:srgbClr val="2A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0"/>
            <a:ext cx="12191695" cy="2286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832397"/>
            <a:ext cx="12191695" cy="2286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12080" y="36576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0" i="0" spc="300">
                <a:solidFill>
                  <a:srgbClr val="C9A96E"/>
                </a:solidFill>
                <a:latin typeface="Garamond"/>
              </a:rPr>
              <a:t>KF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0" y="1207008"/>
            <a:ext cx="3017520" cy="16459"/>
          </a:xfrm>
          <a:prstGeom prst="rect">
            <a:avLst/>
          </a:prstGeom>
          <a:solidFill>
            <a:srgbClr val="8E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0" y="1325880"/>
            <a:ext cx="6675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spc="500">
                <a:solidFill>
                  <a:srgbClr val="F5F0E8"/>
                </a:solidFill>
                <a:latin typeface="Montserrat"/>
              </a:rPr>
              <a:t>FAIZA MULTISERVICE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1719072"/>
            <a:ext cx="5760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 spc="400">
                <a:solidFill>
                  <a:srgbClr val="8E8E8E"/>
                </a:solidFill>
                <a:latin typeface="Montserrat"/>
              </a:rPr>
              <a:t>SERVICE CLIENT DE QUALITÉ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0" y="2084831"/>
            <a:ext cx="3931920" cy="20116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233172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5F0E8"/>
                </a:solidFill>
                <a:latin typeface="Garamond"/>
              </a:rPr>
              <a:t>Votre tranquillité d'esprit commence ici.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600" y="3127248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200"/>
              </a:lnSpc>
            </a:pPr>
            <a:r>
              <a:rPr sz="1300" b="0" i="1">
                <a:solidFill>
                  <a:srgbClr val="AAA8A4"/>
                </a:solidFill>
                <a:latin typeface="Garamond"/>
              </a:rPr>
              <a:t>Réserver un service Faiza Multiservice, c'est choisir la sérénité.
En quelques échanges, notre équipe définit vos besoins, sélectionne les meilleurs profils
et assure la coordination complète de votre mission.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0" y="4160520"/>
            <a:ext cx="3931920" cy="16459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371600" y="437083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 spc="300">
                <a:solidFill>
                  <a:srgbClr val="8E8E8E"/>
                </a:solidFill>
                <a:latin typeface="Montserrat"/>
              </a:rPr>
              <a:t>WHATSAPP / TÉLÉPHONE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46177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 i="0">
                <a:solidFill>
                  <a:srgbClr val="F5F0E8"/>
                </a:solidFill>
                <a:latin typeface="Garamond"/>
              </a:rPr>
              <a:t>+212 639 421 639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71600" y="499262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 spc="300">
                <a:solidFill>
                  <a:srgbClr val="8E8E8E"/>
                </a:solidFill>
                <a:latin typeface="Montserrat"/>
              </a:rPr>
              <a:t>EMAIL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71600" y="523951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 i="0">
                <a:solidFill>
                  <a:srgbClr val="F5F0E8"/>
                </a:solidFill>
                <a:latin typeface="Garamond"/>
              </a:rPr>
              <a:t>faizamultiservice@gmail.com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0" y="437083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 spc="300">
                <a:solidFill>
                  <a:srgbClr val="8E8E8E"/>
                </a:solidFill>
                <a:latin typeface="Montserrat"/>
              </a:rPr>
              <a:t>ADRESSE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0" y="46177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F0E8"/>
                </a:solidFill>
                <a:latin typeface="Garamond"/>
              </a:rPr>
              <a:t>Agadir, Maroc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0" y="499262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 spc="300">
                <a:solidFill>
                  <a:srgbClr val="8E8E8E"/>
                </a:solidFill>
                <a:latin typeface="Montserrat"/>
              </a:rPr>
              <a:t>SITE WEB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0" y="523951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F0E8"/>
                </a:solidFill>
                <a:latin typeface="Garamond"/>
              </a:rPr>
              <a:t>www.faizamultiservice.com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62472" y="4315968"/>
            <a:ext cx="16459" cy="141732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114800" y="5961888"/>
            <a:ext cx="3931920" cy="16459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828800" y="608076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C9A96E"/>
                </a:solidFill>
                <a:latin typeface="Garamond"/>
              </a:rPr>
              <a:t>"Relax, We handle the rest."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E8E8E"/>
                </a:solidFill>
                <a:latin typeface="Montserrat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